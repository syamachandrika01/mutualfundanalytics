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6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62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7" Type="http://schemas.openxmlformats.org/officeDocument/2006/relationships/tableStyles" Target="tableStyles.xml"/><Relationship Id="rId16" Type="http://schemas.openxmlformats.org/officeDocument/2006/relationships/viewProps" Target="viewProps.xml"/><Relationship Id="rId15" Type="http://schemas.openxmlformats.org/officeDocument/2006/relationships/presProps" Target="presProps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1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961120" y="548640"/>
            <a:ext cx="2286000" cy="228600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875520" y="1828800"/>
            <a:ext cx="1463040" cy="1463040"/>
          </a:xfrm>
          <a:prstGeom prst="ellipse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138160" y="4480560"/>
            <a:ext cx="1920240" cy="1920240"/>
          </a:xfrm>
          <a:prstGeom prst="ellipse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960120"/>
            <a:ext cx="7589520" cy="1417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EA5E9"/>
                </a:solidFill>
                <a:latin typeface="Aptos Display"/>
              </a:defRPr>
            </a:pPr>
            <a:r>
              <a:t>BLUESTOCK</a:t>
            </a:r>
          </a:p>
          <a:p>
            <a:pPr>
              <a:defRPr sz="4000" b="1">
                <a:solidFill>
                  <a:srgbClr val="FFFFFF"/>
                </a:solidFill>
                <a:latin typeface="Aptos Display"/>
              </a:defRPr>
            </a:pPr>
            <a:r>
              <a:t>Mutual Fund Analytics</a:t>
            </a:r>
          </a:p>
          <a:p>
            <a:pPr>
              <a:defRPr sz="1800">
                <a:solidFill>
                  <a:srgbClr val="CBD5E1"/>
                </a:solidFill>
                <a:latin typeface="Aptos"/>
              </a:defRPr>
            </a:pPr>
            <a:r>
              <a:t>End-to-End Data Analytics &amp; Business Intelligence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3703320"/>
            <a:ext cx="493776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3703320"/>
            <a:ext cx="54864" cy="132588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8408" y="3867911"/>
            <a:ext cx="3971290" cy="32194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01E36"/>
                </a:solidFill>
                <a:latin typeface="Aptos"/>
              </a:defRPr>
            </a:pPr>
            <a:r>
              <a:rPr lang="en-US"/>
              <a:t>DATA ANALYST INTERNSHIP SUBMISSION</a:t>
            </a:r>
            <a:endParaRPr lang="en-US"/>
          </a:p>
        </p:txBody>
      </p:sp>
      <p:sp>
        <p:nvSpPr>
          <p:cNvPr id="10" name="TextBox 9"/>
          <p:cNvSpPr txBox="1"/>
          <p:nvPr/>
        </p:nvSpPr>
        <p:spPr>
          <a:xfrm>
            <a:off x="1001268" y="4297680"/>
            <a:ext cx="4572000" cy="3067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0">
              <a:buFont typeface="Arial" panose="020B0604020202020204" pitchFamily="34" charset="0"/>
              <a:buNone/>
              <a:defRPr sz="1400">
                <a:solidFill>
                  <a:srgbClr val="1E293B"/>
                </a:solidFill>
                <a:latin typeface="Aptos"/>
              </a:defRPr>
            </a:pPr>
            <a:r>
              <a:rPr lang="en-US"/>
              <a:t>Python  | SQL | SQLite | Power BI | Github</a:t>
            </a:r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804672" y="5897880"/>
            <a:ext cx="3285490" cy="2914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FFFFFF"/>
                </a:solidFill>
                <a:latin typeface="Aptos"/>
              </a:defRPr>
            </a:pPr>
            <a:r>
              <a:rPr lang="en-US"/>
              <a:t>Presented by  - Manthri Syama Chandrika</a:t>
            </a:r>
            <a:r>
              <a:t> 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84048"/>
            <a:ext cx="10515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01E36"/>
                </a:solidFill>
                <a:latin typeface="Aptos Display"/>
              </a:defRPr>
            </a:pPr>
            <a:r>
              <a:t>Problem &amp; Objective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932688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748B"/>
                </a:solidFill>
                <a:latin typeface="Aptos"/>
              </a:defRPr>
            </a:pPr>
            <a:r>
              <a:t>Turning fragmented mutual-fund data into decision-ready analytics.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411480"/>
            <a:ext cx="502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64748B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417320"/>
            <a:ext cx="525780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417320"/>
            <a:ext cx="54864" cy="19659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7" y="1581912"/>
            <a:ext cx="4892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01E36"/>
                </a:solidFill>
                <a:latin typeface="Aptos"/>
              </a:defRPr>
            </a:pPr>
            <a:r>
              <a:t>THE CHALLENGE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7" y="2011680"/>
            <a:ext cx="4892040" cy="1234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1E293B"/>
                </a:solidFill>
                <a:latin typeface="Aptos"/>
              </a:defRPr>
            </a:pPr>
            <a:r>
              <a:t>Mutual-fund data is distributed across fund, NAV, AUM, SIP, investor, portfolio and benchmark datasets. Without a unified workflow, comparison and insight generation become difficult.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80760" y="1417320"/>
            <a:ext cx="544068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080760" y="1417320"/>
            <a:ext cx="54864" cy="19659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81928" y="1581912"/>
            <a:ext cx="5074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01E36"/>
                </a:solidFill>
                <a:latin typeface="Aptos"/>
              </a:defRPr>
            </a:pPr>
            <a:r>
              <a:t>THE OBJECTIVE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81928" y="2011680"/>
            <a:ext cx="5074920" cy="1234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1E293B"/>
                </a:solidFill>
                <a:latin typeface="Aptos"/>
              </a:defRPr>
            </a:pPr>
            <a:r>
              <a:t>Build an end-to-end analytics platform that ingests, cleans, validates, analyzes and visualizes mutual-fund data for industry, performance, risk and investor insights.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3794760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2563EB"/>
                </a:solidFill>
                <a:latin typeface="Aptos"/>
              </a:defRPr>
            </a:pPr>
            <a:r>
              <a:t>ANALYTICS JOURNEY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4160520"/>
            <a:ext cx="24231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85800" y="4160520"/>
            <a:ext cx="54864" cy="1143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86968" y="4325112"/>
            <a:ext cx="2057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01E36"/>
                </a:solidFill>
                <a:latin typeface="Aptos"/>
              </a:defRPr>
            </a:pPr>
            <a:r>
              <a:t>Data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6968" y="4754880"/>
            <a:ext cx="2057400" cy="411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1E293B"/>
                </a:solidFill>
                <a:latin typeface="Aptos"/>
              </a:defRPr>
            </a:pPr>
            <a:r>
              <a:t>10 core CSVs + API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651760" y="4297680"/>
            <a:ext cx="320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64748B"/>
                </a:solidFill>
              </a:defRPr>
            </a:pPr>
            <a:r>
              <a:t>01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429000" y="4160520"/>
            <a:ext cx="24231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429000" y="4160520"/>
            <a:ext cx="54864" cy="114300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630168" y="4325112"/>
            <a:ext cx="2057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01E36"/>
                </a:solidFill>
                <a:latin typeface="Aptos"/>
              </a:defRPr>
            </a:pPr>
            <a:r>
              <a:t>ETL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30168" y="4754880"/>
            <a:ext cx="2057400" cy="411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1E293B"/>
                </a:solidFill>
                <a:latin typeface="Aptos"/>
              </a:defRPr>
            </a:pPr>
            <a:r>
              <a:t>Clean • validate • transform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94960" y="4297680"/>
            <a:ext cx="320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64748B"/>
                </a:solidFill>
              </a:defRPr>
            </a:pPr>
            <a:r>
              <a:t>02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72200" y="4160520"/>
            <a:ext cx="24231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172200" y="4160520"/>
            <a:ext cx="54864" cy="1143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73368" y="4325112"/>
            <a:ext cx="2057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01E36"/>
                </a:solidFill>
                <a:latin typeface="Aptos"/>
              </a:defRPr>
            </a:pPr>
            <a:r>
              <a:t>Analytics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73368" y="4754880"/>
            <a:ext cx="2057400" cy="411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1E293B"/>
                </a:solidFill>
                <a:latin typeface="Aptos"/>
              </a:defRPr>
            </a:pPr>
            <a:r>
              <a:t>SQL • EDA • financial metrics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138160" y="4297680"/>
            <a:ext cx="320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64748B"/>
                </a:solidFill>
              </a:defRPr>
            </a:pPr>
            <a:r>
              <a:t>03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915400" y="4160520"/>
            <a:ext cx="24231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915400" y="4160520"/>
            <a:ext cx="54864" cy="114300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116568" y="4325112"/>
            <a:ext cx="2057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01E36"/>
                </a:solidFill>
                <a:latin typeface="Aptos"/>
              </a:defRPr>
            </a:pPr>
            <a:r>
              <a:t>BI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16568" y="4754880"/>
            <a:ext cx="2057400" cy="411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1E293B"/>
                </a:solidFill>
                <a:latin typeface="Aptos"/>
              </a:defRPr>
            </a:pPr>
            <a:r>
              <a:t>Power BI • insights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881360" y="4297680"/>
            <a:ext cx="320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64748B"/>
                </a:solidFill>
              </a:defRPr>
            </a:pPr>
            <a:r>
              <a:t>04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94360" y="6473952"/>
            <a:ext cx="10972800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12648" y="6528816"/>
            <a:ext cx="9601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64748B"/>
                </a:solidFill>
                <a:latin typeface="Aptos"/>
              </a:defRPr>
            </a:pPr>
            <a:r>
              <a:t>BLUESTOCK MUTUAL FUND ANALYTICS • DATA ANALYST INTERNSHIP SUBMISSION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84048"/>
            <a:ext cx="10515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01E36"/>
                </a:solidFill>
                <a:latin typeface="Aptos Display"/>
              </a:defRPr>
            </a:pPr>
            <a:r>
              <a:t>Data Sources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932688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748B"/>
                </a:solidFill>
                <a:latin typeface="Aptos"/>
              </a:defRPr>
            </a:pPr>
            <a:r>
              <a:t>10 core datasets covering the mutual-fund ecosystem, plus selected NAV API data.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411480"/>
            <a:ext cx="502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64748B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325880"/>
            <a:ext cx="5257800" cy="758952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325880"/>
            <a:ext cx="54864" cy="7589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536" y="1490472"/>
            <a:ext cx="4892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01E36"/>
                </a:solidFill>
                <a:latin typeface="Aptos"/>
              </a:defRPr>
            </a:pPr>
            <a:r>
              <a:t>Fund Master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" y="1920240"/>
            <a:ext cx="4892040" cy="274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1E293B"/>
                </a:solidFill>
                <a:latin typeface="Aptos"/>
              </a:defRPr>
            </a:pPr>
            <a:r>
              <a:t>Scheme attributes, category, plan, expense ratio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81928" y="1325880"/>
            <a:ext cx="5257800" cy="758952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81928" y="1325880"/>
            <a:ext cx="54864" cy="758952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83096" y="1490472"/>
            <a:ext cx="4892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01E36"/>
                </a:solidFill>
                <a:latin typeface="Aptos"/>
              </a:defRPr>
            </a:pPr>
            <a:r>
              <a:t>NAV History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83096" y="1920240"/>
            <a:ext cx="4892040" cy="274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1E293B"/>
                </a:solidFill>
                <a:latin typeface="Aptos"/>
              </a:defRPr>
            </a:pPr>
            <a:r>
              <a:t>Daily NAV for historical performance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8368" y="2267712"/>
            <a:ext cx="5257800" cy="758952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58368" y="2267712"/>
            <a:ext cx="54864" cy="7589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536" y="2432304"/>
            <a:ext cx="4892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01E36"/>
                </a:solidFill>
                <a:latin typeface="Aptos"/>
              </a:defRPr>
            </a:pPr>
            <a:r>
              <a:t>AUM by Fund House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" y="2862072"/>
            <a:ext cx="4892040" cy="274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1E293B"/>
                </a:solidFill>
                <a:latin typeface="Aptos"/>
              </a:defRPr>
            </a:pPr>
            <a:r>
              <a:t>AMC-level assets and scheme counts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81928" y="2267712"/>
            <a:ext cx="5257800" cy="758952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81928" y="2267712"/>
            <a:ext cx="54864" cy="758952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83096" y="2432304"/>
            <a:ext cx="4892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01E36"/>
                </a:solidFill>
                <a:latin typeface="Aptos"/>
              </a:defRPr>
            </a:pPr>
            <a:r>
              <a:t>Monthly SIP Inflows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83096" y="2862072"/>
            <a:ext cx="4892040" cy="274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1E293B"/>
                </a:solidFill>
                <a:latin typeface="Aptos"/>
              </a:defRPr>
            </a:pPr>
            <a:r>
              <a:t>SIP inflow, accounts and SIP AUM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58368" y="3209544"/>
            <a:ext cx="5257800" cy="758952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58368" y="3209544"/>
            <a:ext cx="54864" cy="7589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59536" y="3374136"/>
            <a:ext cx="4892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01E36"/>
                </a:solidFill>
                <a:latin typeface="Aptos"/>
              </a:defRPr>
            </a:pPr>
            <a:r>
              <a:t>Category Inflows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9536" y="3803904"/>
            <a:ext cx="4892040" cy="274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1E293B"/>
                </a:solidFill>
                <a:latin typeface="Aptos"/>
              </a:defRPr>
            </a:pPr>
            <a:r>
              <a:t>Monthly category-level net inflows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81928" y="3209544"/>
            <a:ext cx="5257800" cy="758952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281928" y="3209544"/>
            <a:ext cx="54864" cy="758952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83096" y="3374136"/>
            <a:ext cx="4892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01E36"/>
                </a:solidFill>
                <a:latin typeface="Aptos"/>
              </a:defRPr>
            </a:pPr>
            <a:r>
              <a:t>Industry Folio Count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83096" y="3803904"/>
            <a:ext cx="4892040" cy="274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1E293B"/>
                </a:solidFill>
                <a:latin typeface="Aptos"/>
              </a:defRPr>
            </a:pPr>
            <a:r>
              <a:t>Total, equity, debt, hybrid folios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58368" y="4151376"/>
            <a:ext cx="5257800" cy="758952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58368" y="4151376"/>
            <a:ext cx="54864" cy="7589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59536" y="4315968"/>
            <a:ext cx="4892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01E36"/>
                </a:solidFill>
                <a:latin typeface="Aptos"/>
              </a:defRPr>
            </a:pPr>
            <a:r>
              <a:t>Scheme Performance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59536" y="4745736"/>
            <a:ext cx="4892040" cy="274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1E293B"/>
                </a:solidFill>
                <a:latin typeface="Aptos"/>
              </a:defRPr>
            </a:pPr>
            <a:r>
              <a:t>Returns, risk metrics, AUM, rating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281928" y="4151376"/>
            <a:ext cx="5257800" cy="758952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281928" y="4151376"/>
            <a:ext cx="54864" cy="758952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83096" y="4315968"/>
            <a:ext cx="4892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01E36"/>
                </a:solidFill>
                <a:latin typeface="Aptos"/>
              </a:defRPr>
            </a:pPr>
            <a:r>
              <a:t>Investor Transactions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83096" y="4745736"/>
            <a:ext cx="4892040" cy="274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1E293B"/>
                </a:solidFill>
                <a:latin typeface="Aptos"/>
              </a:defRPr>
            </a:pPr>
            <a:r>
              <a:t>Amount, geography, demographics, KYC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58368" y="5093208"/>
            <a:ext cx="5257800" cy="758952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58368" y="5093208"/>
            <a:ext cx="54864" cy="7589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59536" y="5257800"/>
            <a:ext cx="4892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01E36"/>
                </a:solidFill>
                <a:latin typeface="Aptos"/>
              </a:defRPr>
            </a:pPr>
            <a:r>
              <a:t>Portfolio Holdings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59536" y="5687568"/>
            <a:ext cx="4892040" cy="274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1E293B"/>
                </a:solidFill>
                <a:latin typeface="Aptos"/>
              </a:defRPr>
            </a:pPr>
            <a:r>
              <a:t>Stock, sector, weight and market value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281928" y="5093208"/>
            <a:ext cx="5257800" cy="758952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281928" y="5093208"/>
            <a:ext cx="54864" cy="758952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483096" y="5257800"/>
            <a:ext cx="4892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01E36"/>
                </a:solidFill>
                <a:latin typeface="Aptos"/>
              </a:defRPr>
            </a:pPr>
            <a:r>
              <a:t>Benchmark Indices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483096" y="5687568"/>
            <a:ext cx="4892040" cy="274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1E293B"/>
                </a:solidFill>
                <a:latin typeface="Aptos"/>
              </a:defRPr>
            </a:pPr>
            <a:r>
              <a:t>Market index closing values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13740" y="6490970"/>
            <a:ext cx="3996055" cy="323850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>
              <a:defRPr sz="750">
                <a:solidFill>
                  <a:srgbClr val="64748B"/>
                </a:solidFill>
                <a:latin typeface="Aptos"/>
              </a:defRPr>
            </a:pPr>
            <a:r>
              <a:t>BLUESTOCK MUTUAL FUND ANALYTICS • DATA ANALYST INTERNSHIP SUBMISSION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84048"/>
            <a:ext cx="10515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01E36"/>
                </a:solidFill>
                <a:latin typeface="Aptos Display"/>
              </a:defRPr>
            </a:pPr>
            <a:r>
              <a:t>End-to-End ETL &amp; Analytics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932688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748B"/>
                </a:solidFill>
                <a:latin typeface="Aptos"/>
              </a:defRPr>
            </a:pPr>
            <a:r>
              <a:t>A reproducible pipeline from raw data to interactive business intelligence.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411480"/>
            <a:ext cx="502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64748B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1234440"/>
            <a:ext cx="10332720" cy="566928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78992" y="1335024"/>
            <a:ext cx="347472" cy="347472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61288" y="1389888"/>
            <a:ext cx="1828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FFFFFF"/>
                </a:solidFill>
              </a:defRPr>
            </a:pPr>
            <a: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00200" y="1353312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01E36"/>
                </a:solidFill>
              </a:defRPr>
            </a:pPr>
            <a:r>
              <a:t>SOURCES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29000" y="1353312"/>
            <a:ext cx="7406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1E293B"/>
                </a:solidFill>
              </a:defRPr>
            </a:pPr>
            <a:r>
              <a:t>CSV datasets + mfapi.in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2002536"/>
            <a:ext cx="10332720" cy="566928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78992" y="2103120"/>
            <a:ext cx="347472" cy="347472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61288" y="2157984"/>
            <a:ext cx="1828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FFFFFF"/>
                </a:solidFill>
              </a:defRPr>
            </a:pPr>
            <a: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00200" y="2121408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01E36"/>
                </a:solidFill>
              </a:defRPr>
            </a:pPr>
            <a:r>
              <a:t>EXTRACT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29000" y="2121408"/>
            <a:ext cx="7406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1E293B"/>
                </a:solidFill>
              </a:defRPr>
            </a:pPr>
            <a:r>
              <a:t>Python / Pandas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4400" y="2770632"/>
            <a:ext cx="10332720" cy="566928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78992" y="2871216"/>
            <a:ext cx="347472" cy="347472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61288" y="2926080"/>
            <a:ext cx="1828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FFFFFF"/>
                </a:solidFill>
              </a:defRPr>
            </a:pPr>
            <a: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00200" y="2889504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01E36"/>
                </a:solidFill>
              </a:defRPr>
            </a:pPr>
            <a:r>
              <a:t>TRANSFORM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29000" y="2889504"/>
            <a:ext cx="7406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1E293B"/>
                </a:solidFill>
              </a:defRPr>
            </a:pPr>
            <a:r>
              <a:t>Date parsing • deduplication • validation • standardization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14400" y="3538728"/>
            <a:ext cx="10332720" cy="566928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78992" y="3639312"/>
            <a:ext cx="347472" cy="347472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61288" y="3694176"/>
            <a:ext cx="1828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FFFFFF"/>
                </a:solidFill>
              </a:defRPr>
            </a:pPr>
            <a: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600200" y="365760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01E36"/>
                </a:solidFill>
              </a:defRPr>
            </a:pPr>
            <a:r>
              <a:t>LOAD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429000" y="3657600"/>
            <a:ext cx="7406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1E293B"/>
                </a:solidFill>
              </a:defRPr>
            </a:pPr>
            <a:r>
              <a:t>Processed CSVs → SQLite via SQLAlchemy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14400" y="4306824"/>
            <a:ext cx="10332720" cy="566928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078992" y="4407408"/>
            <a:ext cx="347472" cy="347472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61288" y="4462272"/>
            <a:ext cx="1828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FFFFFF"/>
                </a:solidFill>
              </a:defRPr>
            </a:pPr>
            <a:r>
              <a:t>05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600200" y="4425696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01E36"/>
                </a:solidFill>
              </a:defRPr>
            </a:pPr>
            <a:r>
              <a:t>ANALYZE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429000" y="4425696"/>
            <a:ext cx="7406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1E293B"/>
                </a:solidFill>
              </a:defRPr>
            </a:pPr>
            <a:r>
              <a:t>SQL • EDA • performance • risk • investor analytics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14400" y="5074920"/>
            <a:ext cx="10332720" cy="566928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78992" y="5175504"/>
            <a:ext cx="347472" cy="347472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161288" y="5230368"/>
            <a:ext cx="1828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FFFFFF"/>
                </a:solidFill>
              </a:defRPr>
            </a:pPr>
            <a:r>
              <a:t>06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600200" y="5193792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01E36"/>
                </a:solidFill>
              </a:defRPr>
            </a:pPr>
            <a:r>
              <a:t>PRESENT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429000" y="5193792"/>
            <a:ext cx="7406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1E293B"/>
                </a:solidFill>
              </a:defRPr>
            </a:pPr>
            <a:r>
              <a:t>Power BI dashboard → report &amp; presentation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94360" y="6473952"/>
            <a:ext cx="10972800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12648" y="6528816"/>
            <a:ext cx="9601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64748B"/>
                </a:solidFill>
                <a:latin typeface="Aptos"/>
              </a:defRPr>
            </a:pPr>
            <a:r>
              <a:t>BLUESTOCK MUTUAL FUND ANALYTICS • DATA ANALYST INTERNSHIP SUBMISSION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84048"/>
            <a:ext cx="10515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01E36"/>
                </a:solidFill>
                <a:latin typeface="Aptos Display"/>
              </a:defRPr>
            </a:pPr>
            <a:r>
              <a:t>EDA — Industry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932688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748B"/>
                </a:solidFill>
                <a:latin typeface="Aptos"/>
              </a:defRPr>
            </a:pPr>
            <a:r>
              <a:t>Exploring AUM, SIP activity, category flows and investor participation.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411480"/>
            <a:ext cx="502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64748B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325880"/>
            <a:ext cx="347472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325880"/>
            <a:ext cx="54864" cy="15087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536" y="1490472"/>
            <a:ext cx="3108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01E36"/>
                </a:solidFill>
                <a:latin typeface="Aptos"/>
              </a:defRPr>
            </a:pPr>
            <a:r>
              <a:t>AUM GROWTH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" y="1920240"/>
            <a:ext cx="3108960" cy="7772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1E293B"/>
                </a:solidFill>
                <a:latin typeface="Aptos"/>
              </a:defRPr>
            </a:pPr>
            <a:r>
              <a:t>Grouped by fund house and year (2022–2025) to identify scale and changes in AMC-level assets.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70832" y="1325880"/>
            <a:ext cx="347472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70832" y="1325880"/>
            <a:ext cx="54864" cy="150876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0" y="1490472"/>
            <a:ext cx="3108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01E36"/>
                </a:solidFill>
                <a:latin typeface="Aptos"/>
              </a:defRPr>
            </a:pPr>
            <a:r>
              <a:t>SIP INFLOWS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1920240"/>
            <a:ext cx="3108960" cy="7772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1E293B"/>
                </a:solidFill>
                <a:latin typeface="Aptos"/>
              </a:defRPr>
            </a:pPr>
            <a:r>
              <a:t>Monthly SIP trend from Jan 2022–Dec 2025, including YoY growth and peak inflow monitoring.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83296" y="1325880"/>
            <a:ext cx="342900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83296" y="1325880"/>
            <a:ext cx="54864" cy="150876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84464" y="1490472"/>
            <a:ext cx="3063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01E36"/>
                </a:solidFill>
                <a:latin typeface="Aptos"/>
              </a:defRPr>
            </a:pPr>
            <a:r>
              <a:t>FOLIO GROWTH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84464" y="1920240"/>
            <a:ext cx="3063240" cy="7772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1E293B"/>
                </a:solidFill>
                <a:latin typeface="Aptos"/>
              </a:defRPr>
            </a:pPr>
            <a:r>
              <a:t>Industry folio count trend used as a proxy for investor participation and market reach.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8368" y="3154680"/>
            <a:ext cx="5166360" cy="242316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099048" y="3154680"/>
            <a:ext cx="5166360" cy="242316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658368" y="5806440"/>
            <a:ext cx="10835640" cy="4572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58368" y="5806440"/>
            <a:ext cx="54864" cy="4572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41375" y="5897245"/>
            <a:ext cx="10488295" cy="439420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>
              <a:defRPr sz="1500" b="1">
                <a:solidFill>
                  <a:srgbClr val="101E36"/>
                </a:solidFill>
                <a:latin typeface="Aptos"/>
              </a:defRPr>
            </a:pPr>
            <a:r>
              <a:t>INDUSTRY CONTEXT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59536" y="6126480"/>
            <a:ext cx="10469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1E293B"/>
                </a:solidFill>
                <a:latin typeface="Aptos"/>
              </a:defRPr>
            </a:pPr>
            <a:r>
              <a:t>The project tracks industry-scale indicators alongside fund-level performance, connecting market growth with investor behavior.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94360" y="6473952"/>
            <a:ext cx="10972800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12648" y="6528816"/>
            <a:ext cx="9601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64748B"/>
                </a:solidFill>
                <a:latin typeface="Aptos"/>
              </a:defRPr>
            </a:pPr>
            <a:r>
              <a:t>BLUESTOCK MUTUAL FUND ANALYTICS • DATA ANALYST INTERNSHIP SUBMISSION</a:t>
            </a:r>
          </a:p>
        </p:txBody>
      </p:sp>
      <p:pic>
        <p:nvPicPr>
          <p:cNvPr id="43" name="Picture 4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0930" y="3284220"/>
            <a:ext cx="4323080" cy="2272030"/>
          </a:xfrm>
          <a:prstGeom prst="rect">
            <a:avLst/>
          </a:prstGeom>
        </p:spPr>
      </p:pic>
      <p:pic>
        <p:nvPicPr>
          <p:cNvPr id="45" name="Picture 4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51930" y="3319145"/>
            <a:ext cx="4136390" cy="20802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84048"/>
            <a:ext cx="10515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01E36"/>
                </a:solidFill>
                <a:latin typeface="Aptos Display"/>
              </a:defRPr>
            </a:pPr>
            <a:r>
              <a:t>EDA — Investor Analytics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932688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748B"/>
                </a:solidFill>
                <a:latin typeface="Aptos"/>
              </a:defRPr>
            </a:pPr>
            <a:r>
              <a:t>Understanding who invests, how much they invest and where activity is concentrated.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411480"/>
            <a:ext cx="502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64748B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325880"/>
            <a:ext cx="342900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325880"/>
            <a:ext cx="54864" cy="13258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536" y="1490472"/>
            <a:ext cx="3063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01E36"/>
                </a:solidFill>
                <a:latin typeface="Aptos"/>
              </a:defRPr>
            </a:pPr>
            <a:r>
              <a:t>DEMOGRAPHICS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" y="1920240"/>
            <a:ext cx="306324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1E293B"/>
                </a:solidFill>
                <a:latin typeface="Aptos"/>
              </a:defRPr>
            </a:pPr>
            <a:r>
              <a:t>Age-group distribution and gender split provide a high-level view of investor composition.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70832" y="1325880"/>
            <a:ext cx="342900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70832" y="1325880"/>
            <a:ext cx="54864" cy="132588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0" y="1490472"/>
            <a:ext cx="3063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01E36"/>
                </a:solidFill>
                <a:latin typeface="Aptos"/>
              </a:defRPr>
            </a:pPr>
            <a:r>
              <a:t>GEOGRAPHY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1920240"/>
            <a:ext cx="306324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1E293B"/>
                </a:solidFill>
                <a:latin typeface="Aptos"/>
              </a:defRPr>
            </a:pPr>
            <a:r>
              <a:t>Transaction amount by state and T30 vs B30 city tier highlight geographic concentration.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83296" y="1325880"/>
            <a:ext cx="342900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83296" y="1325880"/>
            <a:ext cx="54864" cy="13258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84464" y="1490472"/>
            <a:ext cx="3063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01E36"/>
                </a:solidFill>
                <a:latin typeface="Aptos"/>
              </a:defRPr>
            </a:pPr>
            <a:r>
              <a:t>TRANSACTIONS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84464" y="1920240"/>
            <a:ext cx="306324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1E293B"/>
                </a:solidFill>
                <a:latin typeface="Aptos"/>
              </a:defRPr>
            </a:pPr>
            <a:r>
              <a:t>SIP, Lumpsum and Redemption activity is compared across time and investor segments.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183880" y="5440680"/>
            <a:ext cx="2035175" cy="240030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>
              <a:defRPr sz="900" b="1">
                <a:solidFill>
                  <a:srgbClr val="2563EB"/>
                </a:solidFill>
                <a:latin typeface="Aptos"/>
              </a:defRPr>
            </a:pPr>
            <a:r>
              <a:t>TRANSACTION TYPES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94360" y="6473952"/>
            <a:ext cx="10972800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12648" y="6528816"/>
            <a:ext cx="9601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64748B"/>
                </a:solidFill>
                <a:latin typeface="Aptos"/>
              </a:defRPr>
            </a:pPr>
            <a:r>
              <a:t>BLUESTOCK MUTUAL FUND ANALYTICS • DATA ANALYST INTERNSHIP SUBMISSION</a:t>
            </a:r>
          </a:p>
        </p:txBody>
      </p:sp>
      <p:pic>
        <p:nvPicPr>
          <p:cNvPr id="37" name="Picture 3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84210" y="3324860"/>
            <a:ext cx="1760220" cy="1978660"/>
          </a:xfrm>
          <a:prstGeom prst="rect">
            <a:avLst/>
          </a:prstGeom>
        </p:spPr>
      </p:pic>
      <p:pic>
        <p:nvPicPr>
          <p:cNvPr id="38" name="Picture 3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775" y="3254375"/>
            <a:ext cx="2910205" cy="2433320"/>
          </a:xfrm>
          <a:prstGeom prst="rect">
            <a:avLst/>
          </a:prstGeom>
        </p:spPr>
      </p:pic>
      <p:pic>
        <p:nvPicPr>
          <p:cNvPr id="39" name="Picture 3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19575" y="3227705"/>
            <a:ext cx="3580130" cy="253365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84048"/>
            <a:ext cx="10515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01E36"/>
                </a:solidFill>
                <a:latin typeface="Aptos Display"/>
              </a:defRPr>
            </a:pPr>
            <a:r>
              <a:t>Fund Performance Analytics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932688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748B"/>
                </a:solidFill>
                <a:latin typeface="Aptos"/>
              </a:defRPr>
            </a:pPr>
            <a:r>
              <a:t>40 schemes evaluated using return, risk-adjusted performance and drawdown metrics.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411480"/>
            <a:ext cx="502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64748B"/>
                </a:solidFill>
                <a:latin typeface="Aptos"/>
              </a:defRPr>
            </a:pPr>
            <a:r>
              <a:t>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325880"/>
            <a:ext cx="251460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325880"/>
            <a:ext cx="54864" cy="1143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536" y="1490472"/>
            <a:ext cx="2148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01E36"/>
                </a:solidFill>
                <a:latin typeface="Aptos"/>
              </a:defRPr>
            </a:pPr>
            <a:r>
              <a:t>Daily Return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" y="1920240"/>
            <a:ext cx="2148840" cy="411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1E293B"/>
                </a:solidFill>
                <a:latin typeface="Aptos"/>
              </a:defRPr>
            </a:pPr>
            <a:r>
              <a:t>NAVt / NAVt-1 − 1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01568" y="1325880"/>
            <a:ext cx="251460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401568" y="1325880"/>
            <a:ext cx="54864" cy="114300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02736" y="1490472"/>
            <a:ext cx="2148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01E36"/>
                </a:solidFill>
                <a:latin typeface="Aptos"/>
              </a:defRPr>
            </a:pPr>
            <a:r>
              <a:t>CAGR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02736" y="1920240"/>
            <a:ext cx="2148840" cy="411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1E293B"/>
                </a:solidFill>
                <a:latin typeface="Aptos"/>
              </a:defRPr>
            </a:pPr>
            <a:r>
              <a:t>(End / Start)^(1/n) − 1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44768" y="1325880"/>
            <a:ext cx="251460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44768" y="1325880"/>
            <a:ext cx="54864" cy="11430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45936" y="1490472"/>
            <a:ext cx="2148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01E36"/>
                </a:solidFill>
                <a:latin typeface="Aptos"/>
              </a:defRPr>
            </a:pPr>
            <a:r>
              <a:t>Sharpe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45936" y="1920240"/>
            <a:ext cx="2148840" cy="411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1E293B"/>
                </a:solidFill>
                <a:latin typeface="Aptos"/>
              </a:defRPr>
            </a:pPr>
            <a:r>
              <a:t>(Rp − Rf) / Std(Rp) × √252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887968" y="1325880"/>
            <a:ext cx="251460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887968" y="1325880"/>
            <a:ext cx="54864" cy="1143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089136" y="1490472"/>
            <a:ext cx="2148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01E36"/>
                </a:solidFill>
                <a:latin typeface="Aptos"/>
              </a:defRPr>
            </a:pPr>
            <a:r>
              <a:t>Sortino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89136" y="1920240"/>
            <a:ext cx="2148840" cy="411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1E293B"/>
                </a:solidFill>
                <a:latin typeface="Aptos"/>
              </a:defRPr>
            </a:pPr>
            <a:r>
              <a:t>Downside-risk adjusted return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58368" y="2743200"/>
            <a:ext cx="251460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58368" y="2743200"/>
            <a:ext cx="54864" cy="1143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59536" y="2907792"/>
            <a:ext cx="2148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01E36"/>
                </a:solidFill>
                <a:latin typeface="Aptos"/>
              </a:defRPr>
            </a:pPr>
            <a:r>
              <a:t>Alpha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9536" y="3337560"/>
            <a:ext cx="2148840" cy="411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1E293B"/>
                </a:solidFill>
                <a:latin typeface="Aptos"/>
              </a:defRPr>
            </a:pPr>
            <a:r>
              <a:t>Annualized regression intercept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401568" y="2743200"/>
            <a:ext cx="251460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401568" y="2743200"/>
            <a:ext cx="54864" cy="114300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602736" y="2907792"/>
            <a:ext cx="2148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01E36"/>
                </a:solidFill>
                <a:latin typeface="Aptos"/>
              </a:defRPr>
            </a:pPr>
            <a:r>
              <a:t>Beta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02736" y="3337560"/>
            <a:ext cx="2148840" cy="411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1E293B"/>
                </a:solidFill>
                <a:latin typeface="Aptos"/>
              </a:defRPr>
            </a:pPr>
            <a:r>
              <a:t>Sensitivity to benchmark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144768" y="2743200"/>
            <a:ext cx="251460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144768" y="2743200"/>
            <a:ext cx="54864" cy="11430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345936" y="2907792"/>
            <a:ext cx="2148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01E36"/>
                </a:solidFill>
                <a:latin typeface="Aptos"/>
              </a:defRPr>
            </a:pPr>
            <a:r>
              <a:t>Max Drawdown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45936" y="3337560"/>
            <a:ext cx="2148840" cy="411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1E293B"/>
                </a:solidFill>
                <a:latin typeface="Aptos"/>
              </a:defRPr>
            </a:pPr>
            <a:r>
              <a:t>Peak-to-trough decline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58368" y="4572000"/>
            <a:ext cx="1083564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58368" y="4572000"/>
            <a:ext cx="54864" cy="1051560"/>
          </a:xfrm>
          <a:prstGeom prst="rect">
            <a:avLst/>
          </a:prstGeom>
          <a:solidFill>
            <a:srgbClr val="10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59536" y="4736592"/>
            <a:ext cx="10469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01E36"/>
                </a:solidFill>
                <a:latin typeface="Aptos"/>
              </a:defRPr>
            </a:pPr>
            <a:r>
              <a:t>FUND SCORECARD — 0–100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59536" y="5166360"/>
            <a:ext cx="10469880" cy="320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1E293B"/>
                </a:solidFill>
                <a:latin typeface="Aptos"/>
              </a:defRPr>
            </a:pPr>
            <a:r>
              <a:t>30% 3Y Return Rank  •  25% Sharpe  •  20% Alpha  •  15% Expense Ratio (inverse)  •  10% Max Drawdown (inverse)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94360" y="6473952"/>
            <a:ext cx="10972800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12648" y="6528816"/>
            <a:ext cx="9601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64748B"/>
                </a:solidFill>
                <a:latin typeface="Aptos"/>
              </a:defRPr>
            </a:pPr>
            <a:r>
              <a:t>BLUESTOCK MUTUAL FUND ANALYTICS • DATA ANALYST INTERNSHIP SUBMISSION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84048"/>
            <a:ext cx="10515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01E36"/>
                </a:solidFill>
                <a:latin typeface="Aptos Display"/>
              </a:defRPr>
            </a:pPr>
            <a:r>
              <a:t>Advanced Risk &amp; Portfolio Analytics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932688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748B"/>
                </a:solidFill>
                <a:latin typeface="Aptos"/>
              </a:defRPr>
            </a:pPr>
            <a:r>
              <a:t>Moving beyond returns to quantify downside risk, consistency and concentration.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411480"/>
            <a:ext cx="502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64748B"/>
                </a:solidFill>
                <a:latin typeface="Aptos"/>
              </a:defRPr>
            </a:pPr>
            <a:r>
              <a:t>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325880"/>
            <a:ext cx="342900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325880"/>
            <a:ext cx="54864" cy="16002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536" y="1490472"/>
            <a:ext cx="3063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01E36"/>
                </a:solidFill>
                <a:latin typeface="Aptos"/>
              </a:defRPr>
            </a:pPr>
            <a:r>
              <a:t>95% HISTORICAL VaR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" y="1920240"/>
            <a:ext cx="30632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1E293B"/>
                </a:solidFill>
                <a:latin typeface="Aptos"/>
              </a:defRPr>
            </a:pPr>
            <a:r>
              <a:t>5th percentile of daily returns. Estimates the historical downside threshold under the observed return distribution.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70832" y="1325880"/>
            <a:ext cx="342900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70832" y="1325880"/>
            <a:ext cx="54864" cy="16002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0" y="1490472"/>
            <a:ext cx="3063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01E36"/>
                </a:solidFill>
                <a:latin typeface="Aptos"/>
              </a:defRPr>
            </a:pPr>
            <a:r>
              <a:t>CVaR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1920240"/>
            <a:ext cx="30632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1E293B"/>
                </a:solidFill>
                <a:latin typeface="Aptos"/>
              </a:defRPr>
            </a:pPr>
            <a:r>
              <a:t>Mean of returns below the VaR threshold. Captures the severity of losses in the tail.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83296" y="1325880"/>
            <a:ext cx="342900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83296" y="1325880"/>
            <a:ext cx="54864" cy="160020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84464" y="1490472"/>
            <a:ext cx="3063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01E36"/>
                </a:solidFill>
                <a:latin typeface="Aptos"/>
              </a:defRPr>
            </a:pPr>
            <a:r>
              <a:t>ROLLING 90-DAY SHARPE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84464" y="1920240"/>
            <a:ext cx="30632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1E293B"/>
                </a:solidFill>
                <a:latin typeface="Aptos"/>
              </a:defRPr>
            </a:pPr>
            <a:r>
              <a:t>Rolling mean / rolling standard deviation × √252. Five key funds monitored over time.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8368" y="3246120"/>
            <a:ext cx="34290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58368" y="3246120"/>
            <a:ext cx="54864" cy="14173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59536" y="3410712"/>
            <a:ext cx="3063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01E36"/>
                </a:solidFill>
                <a:latin typeface="Aptos"/>
              </a:defRPr>
            </a:pPr>
            <a:r>
              <a:t>SECTOR HHI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9536" y="3840480"/>
            <a:ext cx="3063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1E293B"/>
                </a:solidFill>
                <a:latin typeface="Aptos"/>
              </a:defRPr>
            </a:pPr>
            <a:r>
              <a:t>Σ(weight²) measures concentration. Higher HHI indicates a more concentrated equity portfolio.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370832" y="3246120"/>
            <a:ext cx="34290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370832" y="3246120"/>
            <a:ext cx="54864" cy="14173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0" y="3410712"/>
            <a:ext cx="3063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01E36"/>
                </a:solidFill>
                <a:latin typeface="Aptos"/>
              </a:defRPr>
            </a:pPr>
            <a:r>
              <a:t>SIP CONTINUITY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0" y="3840480"/>
            <a:ext cx="3063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1E293B"/>
                </a:solidFill>
                <a:latin typeface="Aptos"/>
              </a:defRPr>
            </a:pPr>
            <a:r>
              <a:t>Investors with 6+ SIPs analyzed by average gap; &gt;35 days flagged as potentially at-risk.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083296" y="3246120"/>
            <a:ext cx="34290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083296" y="3246120"/>
            <a:ext cx="54864" cy="14173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84464" y="3410712"/>
            <a:ext cx="3063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01E36"/>
                </a:solidFill>
                <a:latin typeface="Aptos"/>
              </a:defRPr>
            </a:pPr>
            <a:r>
              <a:t>FUND RECOMMENDER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84464" y="3840480"/>
            <a:ext cx="3063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1E293B"/>
                </a:solidFill>
                <a:latin typeface="Aptos"/>
              </a:defRPr>
            </a:pPr>
            <a:r>
              <a:t>Risk appetite → matching risk grade → top 3 funds by Sharpe Ratio. Analytical demonstration, not financial advice.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94360" y="6473952"/>
            <a:ext cx="10972800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12648" y="6528816"/>
            <a:ext cx="9601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64748B"/>
                </a:solidFill>
                <a:latin typeface="Aptos"/>
              </a:defRPr>
            </a:pPr>
            <a:r>
              <a:t>BLUESTOCK MUTUAL FUND ANALYTICS • DATA ANALYST INTERNSHIP SUBMISSION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84048"/>
            <a:ext cx="10515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01E36"/>
                </a:solidFill>
                <a:latin typeface="Aptos Display"/>
              </a:defRPr>
            </a:pPr>
            <a:r>
              <a:t>Power BI Dashboard — Industry &amp; Performance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932688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748B"/>
                </a:solidFill>
                <a:latin typeface="Aptos"/>
              </a:defRPr>
            </a:pPr>
            <a:r>
              <a:t>Interactive decision layer built on the cleaned analytical data.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411480"/>
            <a:ext cx="502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64748B"/>
                </a:solidFill>
                <a:latin typeface="Aptos"/>
              </a:defRPr>
            </a:pPr>
            <a:r>
              <a:t>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280160"/>
            <a:ext cx="5349240" cy="452628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9536" y="1508760"/>
            <a:ext cx="4846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01E36"/>
                </a:solidFill>
              </a:defRPr>
            </a:pPr>
            <a:r>
              <a:t>PAGE 1 • INDUSTRY OVERVIEW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144768" y="1280160"/>
            <a:ext cx="5349240" cy="452628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45936" y="1508760"/>
            <a:ext cx="4846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01E36"/>
                </a:solidFill>
              </a:defRPr>
            </a:pPr>
            <a:r>
              <a:t>PAGE 2 • FUND PERFORMANCE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58368" y="5989320"/>
            <a:ext cx="10835640" cy="384048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658368" y="5989320"/>
            <a:ext cx="54864" cy="38404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76935" y="6006465"/>
            <a:ext cx="10452735" cy="513080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>
              <a:defRPr sz="1500" b="1">
                <a:solidFill>
                  <a:srgbClr val="101E36"/>
                </a:solidFill>
                <a:latin typeface="Aptos"/>
              </a:defRPr>
            </a:pPr>
            <a:r>
              <a:t>INTERACTIVITY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61060" y="6200140"/>
            <a:ext cx="10468610" cy="3835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900">
                <a:solidFill>
                  <a:srgbClr val="1E293B"/>
                </a:solidFill>
                <a:latin typeface="Aptos"/>
              </a:defRPr>
            </a:pPr>
            <a:r>
              <a:t>Slicers • Tooltips • Drill-through • Fund-level filtering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94360" y="6473952"/>
            <a:ext cx="10972800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12648" y="6528816"/>
            <a:ext cx="9601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64748B"/>
                </a:solidFill>
                <a:latin typeface="Aptos"/>
              </a:defRPr>
            </a:pPr>
            <a:r>
              <a:t>BLUESTOCK MUTUAL FUND ANALYTICS • DATA ANALYST INTERNSHIP SUBMISSION</a:t>
            </a:r>
          </a:p>
        </p:txBody>
      </p:sp>
      <p:pic>
        <p:nvPicPr>
          <p:cNvPr id="53" name="Picture 5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5500" y="2024380"/>
            <a:ext cx="4639945" cy="3246755"/>
          </a:xfrm>
          <a:prstGeom prst="rect">
            <a:avLst/>
          </a:prstGeom>
        </p:spPr>
      </p:pic>
      <p:pic>
        <p:nvPicPr>
          <p:cNvPr id="55" name="Picture 5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83020" y="2069465"/>
            <a:ext cx="4946650" cy="331343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84048"/>
            <a:ext cx="10515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01E36"/>
                </a:solidFill>
                <a:latin typeface="Aptos Display"/>
              </a:defRPr>
            </a:pPr>
            <a:r>
              <a:t>Power BI Dashboard — Investor &amp; Market Trends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932688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748B"/>
                </a:solidFill>
                <a:latin typeface="Aptos"/>
              </a:defRPr>
            </a:pPr>
            <a:r>
              <a:t>Two pages connect investor behavior with SIP and market-level trends.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411480"/>
            <a:ext cx="502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64748B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280160"/>
            <a:ext cx="5349240" cy="452628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9536" y="1508760"/>
            <a:ext cx="4846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01E36"/>
                </a:solidFill>
              </a:defRPr>
            </a:pPr>
            <a:r>
              <a:t>PAGE 3 • INVESTOR ANALYTICS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144768" y="1280160"/>
            <a:ext cx="5349240" cy="452628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345936" y="1508760"/>
            <a:ext cx="4846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01E36"/>
                </a:solidFill>
              </a:defRPr>
            </a:pPr>
            <a:r>
              <a:t>PAGE 4 • SIP &amp; MARKET TRENDS</a:t>
            </a:r>
          </a:p>
        </p:txBody>
      </p:sp>
      <p:sp>
        <p:nvSpPr>
          <p:cNvPr id="61" name="Rectangle 60"/>
          <p:cNvSpPr/>
          <p:nvPr/>
        </p:nvSpPr>
        <p:spPr>
          <a:xfrm>
            <a:off x="594360" y="6473952"/>
            <a:ext cx="10972800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12648" y="6528816"/>
            <a:ext cx="9601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64748B"/>
                </a:solidFill>
                <a:latin typeface="Aptos"/>
              </a:defRPr>
            </a:pPr>
            <a:r>
              <a:t>BLUESTOCK MUTUAL FUND ANALYTICS • DATA ANALYST INTERNSHIP SUBMISSION</a:t>
            </a:r>
          </a:p>
        </p:txBody>
      </p:sp>
      <p:pic>
        <p:nvPicPr>
          <p:cNvPr id="64" name="Picture 6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3430" y="1854200"/>
            <a:ext cx="5101590" cy="3647440"/>
          </a:xfrm>
          <a:prstGeom prst="rect">
            <a:avLst/>
          </a:prstGeom>
        </p:spPr>
      </p:pic>
      <p:pic>
        <p:nvPicPr>
          <p:cNvPr id="66" name="Picture 6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6185" y="2038985"/>
            <a:ext cx="4895215" cy="342646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84048"/>
            <a:ext cx="10515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01E36"/>
                </a:solidFill>
                <a:latin typeface="Aptos Display"/>
              </a:defRPr>
            </a:pPr>
            <a:r>
              <a:t>Key Findings &amp; Recommendations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932688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748B"/>
                </a:solidFill>
                <a:latin typeface="Aptos"/>
              </a:defRPr>
            </a:pPr>
            <a:r>
              <a:t>What the analytics framework enables an analyst or business user to see.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411480"/>
            <a:ext cx="502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64748B"/>
                </a:solidFill>
                <a:latin typeface="Aptos"/>
              </a:defRPr>
            </a:pPr>
            <a:r>
              <a:t>11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325880"/>
            <a:ext cx="7223760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325880"/>
            <a:ext cx="54864" cy="6400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9950" y="1412240"/>
            <a:ext cx="6847840" cy="443865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>
              <a:defRPr sz="1500" b="1">
                <a:solidFill>
                  <a:srgbClr val="101E36"/>
                </a:solidFill>
                <a:latin typeface="Aptos"/>
              </a:defRPr>
            </a:pPr>
            <a:r>
              <a:t>Performance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3600" y="1739265"/>
            <a:ext cx="6854190" cy="18097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1050">
                <a:solidFill>
                  <a:srgbClr val="1E293B"/>
                </a:solidFill>
                <a:latin typeface="Aptos"/>
              </a:defRPr>
            </a:pPr>
            <a:r>
              <a:t>Return alone is insufficient; risk-adjusted measures such as Sharpe and Sortino improve fund comparison.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2148840"/>
            <a:ext cx="7223760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58368" y="2148840"/>
            <a:ext cx="54864" cy="64008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8525" y="2235200"/>
            <a:ext cx="6819265" cy="443865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>
              <a:defRPr sz="1500" b="1">
                <a:solidFill>
                  <a:srgbClr val="101E36"/>
                </a:solidFill>
                <a:latin typeface="Aptos"/>
              </a:defRPr>
            </a:pPr>
            <a:r>
              <a:t>Industry Growth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2170" y="2573655"/>
            <a:ext cx="6865620" cy="16954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1050">
                <a:solidFill>
                  <a:srgbClr val="1E293B"/>
                </a:solidFill>
                <a:latin typeface="Aptos"/>
              </a:defRPr>
            </a:pPr>
            <a:r>
              <a:t>AUM, SIP and folio trends provide complementary views of industry scale and investor participation.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8368" y="2971800"/>
            <a:ext cx="7223760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58368" y="2971800"/>
            <a:ext cx="54864" cy="6400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81380" y="3013710"/>
            <a:ext cx="6836410" cy="488315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>
              <a:defRPr sz="1500" b="1">
                <a:solidFill>
                  <a:srgbClr val="101E36"/>
                </a:solidFill>
                <a:latin typeface="Aptos"/>
              </a:defRPr>
            </a:pPr>
            <a:r>
              <a:t>Investor Behavior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3285" y="3341370"/>
            <a:ext cx="6834505" cy="22479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1050">
                <a:solidFill>
                  <a:srgbClr val="1E293B"/>
                </a:solidFill>
                <a:latin typeface="Aptos"/>
              </a:defRPr>
            </a:pPr>
            <a:r>
              <a:t>Age, geography, city tier and transaction type reveal meaningful differences in investment activity.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8368" y="3794760"/>
            <a:ext cx="7223760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58368" y="3794760"/>
            <a:ext cx="54864" cy="6400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57885" y="3909695"/>
            <a:ext cx="6859905" cy="415290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>
              <a:defRPr sz="1500" b="1">
                <a:solidFill>
                  <a:srgbClr val="101E36"/>
                </a:solidFill>
                <a:latin typeface="Aptos"/>
              </a:defRPr>
            </a:pPr>
            <a:r>
              <a:t>Risk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9475" y="4232275"/>
            <a:ext cx="6838315" cy="15684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1050">
                <a:solidFill>
                  <a:srgbClr val="1E293B"/>
                </a:solidFill>
                <a:latin typeface="Aptos"/>
              </a:defRPr>
            </a:pPr>
            <a:r>
              <a:t>VaR, CVaR, drawdown and rolling Sharpe quantify downside risk and consistency.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58368" y="4617720"/>
            <a:ext cx="7223760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58368" y="4617720"/>
            <a:ext cx="54864" cy="640080"/>
          </a:xfrm>
          <a:prstGeom prst="rect">
            <a:avLst/>
          </a:prstGeom>
          <a:solidFill>
            <a:srgbClr val="10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57885" y="4726940"/>
            <a:ext cx="6859905" cy="421005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>
              <a:defRPr sz="1500" b="1">
                <a:solidFill>
                  <a:srgbClr val="101E36"/>
                </a:solidFill>
                <a:latin typeface="Aptos"/>
              </a:defRPr>
            </a:pPr>
            <a:r>
              <a:t>Portfolio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9950" y="5055235"/>
            <a:ext cx="6847840" cy="15684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1050">
                <a:solidFill>
                  <a:srgbClr val="1E293B"/>
                </a:solidFill>
                <a:latin typeface="Aptos"/>
              </a:defRPr>
            </a:pPr>
            <a:r>
              <a:t>HHI highlights differences in sector concentration across equity funds.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183879" y="1325880"/>
            <a:ext cx="329184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183879" y="1325880"/>
            <a:ext cx="54864" cy="19202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85048" y="1490472"/>
            <a:ext cx="2926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01E36"/>
                </a:solidFill>
                <a:latin typeface="Aptos"/>
              </a:defRPr>
            </a:pPr>
            <a:r>
              <a:t>RECOMMENDATION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85048" y="1920240"/>
            <a:ext cx="29260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1E293B"/>
                </a:solidFill>
                <a:latin typeface="Aptos"/>
              </a:defRPr>
            </a:pPr>
            <a:r>
              <a:t>Build decisions around return + risk + cost + benchmark context; use SIP continuity to identify potential retention opportunities; monitor concentrated portfolios.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183879" y="3520440"/>
            <a:ext cx="329184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183879" y="3520440"/>
            <a:ext cx="54864" cy="19202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385048" y="3685032"/>
            <a:ext cx="2926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01E36"/>
                </a:solidFill>
                <a:latin typeface="Aptos"/>
              </a:defRPr>
            </a:pPr>
            <a:r>
              <a:t>NEXT STEP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85048" y="4114800"/>
            <a:ext cx="29260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1E293B"/>
                </a:solidFill>
                <a:latin typeface="Aptos"/>
              </a:defRPr>
            </a:pPr>
            <a:r>
              <a:t>Automate refreshes, move to cloud storage, add ML-based investor churn / fund analytics, and improve the recommender with investor goals and horizon.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94360" y="6473952"/>
            <a:ext cx="10972800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12648" y="6528816"/>
            <a:ext cx="9601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64748B"/>
                </a:solidFill>
                <a:latin typeface="Aptos"/>
              </a:defRPr>
            </a:pPr>
            <a:r>
              <a:t>BLUESTOCK MUTUAL FUND ANALYTICS • DATA ANALYST INTERNSHIP SUBMISSION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73152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FFFFF"/>
                </a:solidFill>
                <a:latin typeface="Aptos Display"/>
              </a:defRPr>
            </a:pPr>
            <a: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4672" y="1600200"/>
            <a:ext cx="987552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E2E8F0"/>
                </a:solidFill>
                <a:latin typeface="Aptos"/>
              </a:defRPr>
            </a:pPr>
            <a:r>
              <a:t>A complete analytics workflow was developed—from raw mutual-fund data and ETL to financial analytics, risk measurement and interactive Power BI reporting.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3566160"/>
            <a:ext cx="2971800" cy="5029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3694176"/>
            <a:ext cx="2697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10 core datasets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80" y="3566160"/>
            <a:ext cx="2971800" cy="5029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34840" y="3694176"/>
            <a:ext cx="2697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40 schemes analyzed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0" y="3566160"/>
            <a:ext cx="2971800" cy="5029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09560" y="3694176"/>
            <a:ext cx="2697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SQLite + SQL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4343400"/>
            <a:ext cx="2971800" cy="5029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4471416"/>
            <a:ext cx="2697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Financial &amp; risk analytics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97680" y="4343400"/>
            <a:ext cx="2971800" cy="5029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34840" y="4471416"/>
            <a:ext cx="2697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Power BI dashboard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0" y="4343400"/>
            <a:ext cx="2971800" cy="5029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909560" y="4471416"/>
            <a:ext cx="2697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GitHub project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40775" y="5742432"/>
            <a:ext cx="2323465" cy="245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CBD5E1"/>
                </a:solidFill>
              </a:defRPr>
            </a:pPr>
            <a:r>
              <a:rPr lang="en-US"/>
              <a:t>Presented by -  Manthri Syama Chandrika</a:t>
            </a:r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6342</Words>
  <Application>WPS Presentation</Application>
  <PresentationFormat>On-screen Show (4:3)</PresentationFormat>
  <Paragraphs>344</Paragraphs>
  <Slides>12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24" baseType="lpstr">
      <vt:lpstr>Arial</vt:lpstr>
      <vt:lpstr>SimSun</vt:lpstr>
      <vt:lpstr>Wingdings</vt:lpstr>
      <vt:lpstr>Arial</vt:lpstr>
      <vt:lpstr>Aptos Display</vt:lpstr>
      <vt:lpstr>Segoe UI Variable Display</vt:lpstr>
      <vt:lpstr>Aptos</vt:lpstr>
      <vt:lpstr>Calibri</vt:lpstr>
      <vt:lpstr>Segoe UI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Syama Chandrika Manthri</cp:lastModifiedBy>
  <cp:revision>2</cp:revision>
  <dcterms:created xsi:type="dcterms:W3CDTF">2013-01-27T09:14:00Z</dcterms:created>
  <dcterms:modified xsi:type="dcterms:W3CDTF">2026-08-13T13:30:42Z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1033-12.1.0.28032</vt:lpwstr>
  </property>
  <property fmtid="{D5CDD505-2E9C-101B-9397-08002B2CF9AE}" pid="3" name="ICV">
    <vt:lpwstr>509ED46F1BEC43F8BBF0EB0440862857_12</vt:lpwstr>
  </property>
</Properties>
</file>